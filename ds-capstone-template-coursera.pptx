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12192000"/>
  <p:notesSz cx="6858000" cy="1857375"/>
  <p:embeddedFontLst>
    <p:embeddedFont>
      <p:font typeface="IBM Plex Mono SemiBold"/>
      <p:regular r:id="rId52"/>
      <p:bold r:id="rId53"/>
      <p:italic r:id="rId54"/>
      <p:boldItalic r:id="rId55"/>
    </p:embeddedFont>
    <p:embeddedFont>
      <p:font typeface="IBM Plex Mono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IBMPlexMonoSemiBold-bold.fntdata"/><Relationship Id="rId52" Type="http://schemas.openxmlformats.org/officeDocument/2006/relationships/font" Target="fonts/IBMPlexMonoSemiBold-regular.fntdata"/><Relationship Id="rId11" Type="http://schemas.openxmlformats.org/officeDocument/2006/relationships/slide" Target="slides/slide6.xml"/><Relationship Id="rId55" Type="http://schemas.openxmlformats.org/officeDocument/2006/relationships/font" Target="fonts/IBMPlexMonoSemiBold-boldItalic.fntdata"/><Relationship Id="rId10" Type="http://schemas.openxmlformats.org/officeDocument/2006/relationships/slide" Target="slides/slide5.xml"/><Relationship Id="rId54" Type="http://schemas.openxmlformats.org/officeDocument/2006/relationships/font" Target="fonts/IBMPlexMonoSemiBold-italic.fntdata"/><Relationship Id="rId13" Type="http://schemas.openxmlformats.org/officeDocument/2006/relationships/slide" Target="slides/slide8.xml"/><Relationship Id="rId57" Type="http://schemas.openxmlformats.org/officeDocument/2006/relationships/font" Target="fonts/IBMPlexMono-bold.fntdata"/><Relationship Id="rId12" Type="http://schemas.openxmlformats.org/officeDocument/2006/relationships/slide" Target="slides/slide7.xml"/><Relationship Id="rId56" Type="http://schemas.openxmlformats.org/officeDocument/2006/relationships/font" Target="fonts/IBMPlexMono-regular.fntdata"/><Relationship Id="rId15" Type="http://schemas.openxmlformats.org/officeDocument/2006/relationships/slide" Target="slides/slide10.xml"/><Relationship Id="rId59" Type="http://schemas.openxmlformats.org/officeDocument/2006/relationships/font" Target="fonts/IBMPlexMono-boldItalic.fntdata"/><Relationship Id="rId14" Type="http://schemas.openxmlformats.org/officeDocument/2006/relationships/slide" Target="slides/slide9.xml"/><Relationship Id="rId58" Type="http://schemas.openxmlformats.org/officeDocument/2006/relationships/font" Target="fonts/IBMPlex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showMasterSp="0">
  <p:cSld name="1_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800"/>
              <a:buFont typeface="IBM Plex Mono SemiBold"/>
              <a:buNone/>
              <a:defRPr b="0" i="0" sz="4800" u="none" cap="none" strike="noStrike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ertical Title and Text">
  <p:cSld name="1_Vertical Title and 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Relationship Id="rId7" Type="http://schemas.openxmlformats.org/officeDocument/2006/relationships/image" Target="../media/image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Relationship Id="rId4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Relationship Id="rId4" Type="http://schemas.openxmlformats.org/officeDocument/2006/relationships/image" Target="../media/image38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Relationship Id="rId4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Relationship Id="rId4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png"/><Relationship Id="rId4" Type="http://schemas.openxmlformats.org/officeDocument/2006/relationships/image" Target="../media/image3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&lt;Name&gt;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&lt;Date&gt;</a:t>
            </a:r>
            <a:endParaRPr/>
          </a:p>
        </p:txBody>
      </p:sp>
      <p:pic>
        <p:nvPicPr>
          <p:cNvPr descr="IBM Skills Network Logo - Horizontal-noai copy.png"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820" y="676828"/>
            <a:ext cx="2104103" cy="629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958697" y="2113240"/>
            <a:ext cx="5167086" cy="33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958750" y="1807175"/>
            <a:ext cx="7636800" cy="4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Summary of methodologies</a:t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Data Collection API with Webscraping</a:t>
            </a:r>
            <a:endParaRPr sz="2200">
              <a:solidFill>
                <a:srgbClr val="292929"/>
              </a:solidFill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Data Wrangling</a:t>
            </a:r>
            <a:endParaRPr sz="2200">
              <a:solidFill>
                <a:srgbClr val="292929"/>
              </a:solidFill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Data Analysis with SQL</a:t>
            </a:r>
            <a:endParaRPr sz="2200">
              <a:solidFill>
                <a:srgbClr val="292929"/>
              </a:solidFill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Data Visualization</a:t>
            </a:r>
            <a:endParaRPr sz="2200">
              <a:solidFill>
                <a:srgbClr val="292929"/>
              </a:solidFill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Interactive Visual Analytics and Dashboard</a:t>
            </a:r>
            <a:endParaRPr sz="2200">
              <a:solidFill>
                <a:srgbClr val="292929"/>
              </a:solidFill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Machine Learning Predictive Analysis</a:t>
            </a:r>
            <a:endParaRPr sz="2200">
              <a:solidFill>
                <a:srgbClr val="292929"/>
              </a:solidFill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Summary of all results</a:t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Success rate for launches has been increasing and SpaceX has very high rates of success with certain launches </a:t>
            </a:r>
            <a:r>
              <a:rPr lang="en-US" sz="2200">
                <a:solidFill>
                  <a:srgbClr val="292929"/>
                </a:solidFill>
              </a:rPr>
              <a:t>particularly</a:t>
            </a:r>
            <a:r>
              <a:rPr lang="en-US" sz="2200">
                <a:solidFill>
                  <a:srgbClr val="292929"/>
                </a:solidFill>
              </a:rPr>
              <a:t> from certain locations.</a:t>
            </a:r>
            <a:endParaRPr sz="2200">
              <a:solidFill>
                <a:srgbClr val="292929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828068" y="538650"/>
            <a:ext cx="10530114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958700" y="2143125"/>
            <a:ext cx="56607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Space X competitors cost roughly $165 million to SpaceX Falcon 9’s $60+ million figure. SpaceX will have even more of a competitive advantage with more successful launches and increased reusability.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Using information from previous launches, we can </a:t>
            </a:r>
            <a:r>
              <a:rPr lang="en-US" sz="2200">
                <a:solidFill>
                  <a:srgbClr val="292929"/>
                </a:solidFill>
              </a:rPr>
              <a:t>decipher</a:t>
            </a:r>
            <a:r>
              <a:rPr lang="en-US" sz="2200">
                <a:solidFill>
                  <a:srgbClr val="292929"/>
                </a:solidFill>
              </a:rPr>
              <a:t> the probability of future successful launches depending on the location and type of launch as well as other factors.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idx="12" type="sldNum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9"/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88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-US" sz="8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Data collection methodology:</a:t>
            </a:r>
            <a:endParaRPr/>
          </a:p>
          <a:p>
            <a:pPr indent="-228600" lvl="1" marL="6858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757070"/>
              </a:buClr>
              <a:buSzPct val="100000"/>
              <a:buFont typeface="Arial"/>
              <a:buChar char="•"/>
            </a:pPr>
            <a:r>
              <a:rPr b="0" i="0" lang="en-US" sz="7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Describe how data was collected 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-US" sz="8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data wrangling</a:t>
            </a:r>
            <a:endParaRPr/>
          </a:p>
          <a:p>
            <a:pPr indent="-228600" lvl="1" marL="6858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757070"/>
              </a:buClr>
              <a:buSzPct val="100000"/>
              <a:buFont typeface="Arial"/>
              <a:buChar char="•"/>
            </a:pPr>
            <a:r>
              <a:rPr b="0" i="0" lang="en-US" sz="7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Describe how data was processed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-US" sz="8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exploratory data analysis (EDA) using visualization and SQL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-US" sz="8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interactive visual analytics using Folium and Plotly Dash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-US" sz="88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predictive analysis using classification models</a:t>
            </a:r>
            <a:endParaRPr/>
          </a:p>
          <a:p>
            <a:pPr indent="-228600" lvl="1" marL="6858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757070"/>
              </a:buClr>
              <a:buSzPct val="100000"/>
              <a:buFont typeface="Arial"/>
              <a:buChar char="•"/>
            </a:pPr>
            <a:r>
              <a:rPr b="0" i="0" lang="en-US" sz="7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How to build, tune, evaluate classification models</a:t>
            </a:r>
            <a:endParaRPr/>
          </a:p>
          <a:p>
            <a:pPr indent="-889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t/>
            </a:r>
            <a:endParaRPr sz="88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3675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3675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3675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3675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Describe how data sets were collected.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You need to present your data collection process use key phrases and flowcharts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820750" y="2411400"/>
            <a:ext cx="4640400" cy="36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Data was collected from the SpaceX API as seen in the flowchart to the right.</a:t>
            </a:r>
            <a:endParaRPr/>
          </a:p>
          <a:p>
            <a:pPr indent="-889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https://github.com/adroit-al/Jupyter-Notebook/blob/SpaceX-Flight/jupyter-labs-spacex-data-collection-api.ipynb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Collection – SpaceX API</a:t>
            </a:r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2100" y="1885003"/>
            <a:ext cx="4913500" cy="4106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922400" y="1792301"/>
            <a:ext cx="3932400" cy="42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Webscraping was completed using get request from an online list of Falcon 9 launches which was then converted into a dataframe</a:t>
            </a:r>
            <a:endParaRPr/>
          </a:p>
          <a:p>
            <a:pPr indent="-889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https://github.com/adroit-al/Jupyter-Notebook/blob/SpaceX-Flight/jupyter-labs-webscraping.ipynb</a:t>
            </a:r>
            <a:endParaRPr/>
          </a:p>
        </p:txBody>
      </p:sp>
      <p:sp>
        <p:nvSpPr>
          <p:cNvPr id="145" name="Google Shape;145;p23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ct val="100000"/>
              <a:buFont typeface="IBM Plex Mono SemiBold"/>
              <a:buNone/>
            </a:pPr>
            <a:r>
              <a:t/>
            </a:r>
            <a:endParaRPr sz="4000">
              <a:solidFill>
                <a:srgbClr val="1C7DD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922411" y="6910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Collection - Scraping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6975" y="1856425"/>
            <a:ext cx="3448200" cy="38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770001" y="1825625"/>
            <a:ext cx="5325900" cy="4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Exploratory data analysis was conducted to determine the available information, determine missing values, and datatypes some of which were numerical while others were categorical in nature. From there, the </a:t>
            </a:r>
            <a:r>
              <a:rPr lang="en-US" sz="2200">
                <a:solidFill>
                  <a:srgbClr val="292929"/>
                </a:solidFill>
              </a:rPr>
              <a:t>number</a:t>
            </a:r>
            <a:r>
              <a:rPr lang="en-US" sz="2200">
                <a:solidFill>
                  <a:srgbClr val="292929"/>
                </a:solidFill>
              </a:rPr>
              <a:t> of launches from each location was </a:t>
            </a:r>
            <a:r>
              <a:rPr lang="en-US" sz="2200">
                <a:solidFill>
                  <a:srgbClr val="292929"/>
                </a:solidFill>
              </a:rPr>
              <a:t>determined as well as the result of each launch. 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https://pandas.pydata.org/docs/reference/api/pandas.DataFrame.dtypes.html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Wrangling</a:t>
            </a:r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550" y="1765925"/>
            <a:ext cx="4397425" cy="38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885750" y="2185375"/>
            <a:ext cx="39372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Scatterplots, Bar graphs, and a lien chart were used to visualize the data, an example of which can be seen to the right.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https://github.com/adroit-al/Jupyter-Notebook/blob/SpaceX-Flight/edadataviz.ipynb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EDA with Data Visualization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2875" y="2185375"/>
            <a:ext cx="5402714" cy="29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SQL queries were used to determine the following:</a:t>
            </a:r>
            <a:endParaRPr sz="2200">
              <a:solidFill>
                <a:srgbClr val="292929"/>
              </a:solidFill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Average payload mass </a:t>
            </a:r>
            <a:r>
              <a:rPr lang="en-US" sz="2200">
                <a:solidFill>
                  <a:srgbClr val="292929"/>
                </a:solidFill>
              </a:rPr>
              <a:t>carried</a:t>
            </a:r>
            <a:r>
              <a:rPr lang="en-US" sz="2200">
                <a:solidFill>
                  <a:srgbClr val="292929"/>
                </a:solidFill>
              </a:rPr>
              <a:t> by booster version F9</a:t>
            </a:r>
            <a:endParaRPr sz="2200">
              <a:solidFill>
                <a:srgbClr val="292929"/>
              </a:solidFill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Determine date of first successful landing outcome</a:t>
            </a:r>
            <a:endParaRPr sz="2200">
              <a:solidFill>
                <a:srgbClr val="292929"/>
              </a:solidFill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List boosters within certain range of mass </a:t>
            </a:r>
            <a:endParaRPr sz="2200">
              <a:solidFill>
                <a:srgbClr val="292929"/>
              </a:solidFill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List total number of successful and failure mission outcomes</a:t>
            </a:r>
            <a:endParaRPr sz="2200">
              <a:solidFill>
                <a:srgbClr val="292929"/>
              </a:solidFill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List the month failure outcomes </a:t>
            </a:r>
            <a:r>
              <a:rPr lang="en-US" sz="2200">
                <a:solidFill>
                  <a:srgbClr val="292929"/>
                </a:solidFill>
              </a:rPr>
              <a:t>occurred</a:t>
            </a:r>
            <a:r>
              <a:rPr lang="en-US" sz="2200">
                <a:solidFill>
                  <a:srgbClr val="292929"/>
                </a:solidFill>
              </a:rPr>
              <a:t> for drone ships</a:t>
            </a:r>
            <a:endParaRPr sz="2200">
              <a:solidFill>
                <a:srgbClr val="292929"/>
              </a:solidFill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○"/>
            </a:pPr>
            <a:r>
              <a:rPr lang="en-US" sz="2200">
                <a:solidFill>
                  <a:srgbClr val="292929"/>
                </a:solidFill>
              </a:rPr>
              <a:t>Rank landing outcomes in specific date range</a:t>
            </a:r>
            <a:endParaRPr sz="2200">
              <a:solidFill>
                <a:srgbClr val="292929"/>
              </a:solidFill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https://github.com/adroit-al/Jupyter-Notebook/blob/SpaceX-Flight/jupyter-labs-eda-sql-coursera_sqllite.ipynb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EDA with SQL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Markers, circles and lines were added to the Folium map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The lines were to display the distance </a:t>
            </a:r>
            <a:r>
              <a:rPr lang="en-US" sz="2200">
                <a:solidFill>
                  <a:srgbClr val="292929"/>
                </a:solidFill>
              </a:rPr>
              <a:t>from the launch site to the coastline and the markers of varying color showed whether each launch was a success or failure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https://github.com/adroit-al/Jupyter-Notebook/blob/SpaceX-Flight/lab_jupyter_launch_site_location.ipynb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Build an Interactive Map with Folium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Summarize what plots/graphs and interactions you have added to a dashboard</a:t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•"/>
            </a:pPr>
            <a:r>
              <a:rPr lang="en-US" sz="2200">
                <a:solidFill>
                  <a:srgbClr val="292929"/>
                </a:solidFill>
              </a:rPr>
              <a:t>The plots/graphs added include a pie </a:t>
            </a:r>
            <a:r>
              <a:rPr lang="en-US" sz="2200">
                <a:solidFill>
                  <a:srgbClr val="292929"/>
                </a:solidFill>
              </a:rPr>
              <a:t>chart to visualize the percentage of launches from the different locations and a scatter plot of the payload complete with launchsite details as well as whether it was a success or failure as well as input interaction with a slider so the user could select certain fields </a:t>
            </a:r>
            <a:endParaRPr sz="2200">
              <a:solidFill>
                <a:srgbClr val="292929"/>
              </a:solidFill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These </a:t>
            </a:r>
            <a:r>
              <a:rPr lang="en-US" sz="2200">
                <a:solidFill>
                  <a:srgbClr val="292929"/>
                </a:solidFill>
              </a:rPr>
              <a:t>plots and interactions were added to include an interactive visual so that users could easily determine the effect of payload mass and launch location on the success rate of a launch.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Build a Dashboard with Plotly Dash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•"/>
            </a:pPr>
            <a:r>
              <a:rPr lang="en-US" sz="2200">
                <a:solidFill>
                  <a:srgbClr val="292929"/>
                </a:solidFill>
              </a:rPr>
              <a:t>First the data was standardized using a standard scalar and split into training and testing data. From there, different models were tested such a logregression, SVM, DecisionTree classifier, and KNN </a:t>
            </a:r>
            <a:endParaRPr sz="2200">
              <a:solidFill>
                <a:srgbClr val="292929"/>
              </a:solidFill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Different models were tested to determine which would be best to use, however, they all performed similarly. This being the case, it is best to use the </a:t>
            </a:r>
            <a:r>
              <a:rPr lang="en-US" sz="2200">
                <a:solidFill>
                  <a:srgbClr val="292929"/>
                </a:solidFill>
              </a:rPr>
              <a:t>model</a:t>
            </a:r>
            <a:r>
              <a:rPr lang="en-US" sz="2200">
                <a:solidFill>
                  <a:srgbClr val="292929"/>
                </a:solidFill>
              </a:rPr>
              <a:t> that requires the least amount of resources.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https://github.com/adroit-al/Jupyter-Notebook/blob/SpaceX-Flight/SpaceX_Machine%20Learning%20Prediction_Part_5.ipynb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Predictive Analysis (Classification)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/>
        </p:nvSpPr>
        <p:spPr>
          <a:xfrm>
            <a:off x="841125" y="1807337"/>
            <a:ext cx="7068725" cy="162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Exploratory data analysis results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Interactive analytics demo in screenshots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Predictive analysis results</a:t>
            </a:r>
            <a:endParaRPr/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30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864975" y="4494825"/>
            <a:ext cx="10515600" cy="1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Early launches resulted in many failures, however, each site’s success rates improved drastically as the number of flights increased.</a:t>
            </a:r>
            <a:endParaRPr/>
          </a:p>
        </p:txBody>
      </p:sp>
      <p:sp>
        <p:nvSpPr>
          <p:cNvPr id="211" name="Google Shape;211;p32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Flight Number vs. Launch Site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212" name="Google Shape;21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338" y="1581700"/>
            <a:ext cx="10972925" cy="24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92929"/>
                </a:solidFill>
              </a:rPr>
              <a:t>The lowest payloads had a lower chance of </a:t>
            </a:r>
            <a:r>
              <a:rPr lang="en-US" sz="2200">
                <a:solidFill>
                  <a:srgbClr val="292929"/>
                </a:solidFill>
              </a:rPr>
              <a:t>success</a:t>
            </a:r>
            <a:r>
              <a:rPr lang="en-US" sz="2200">
                <a:solidFill>
                  <a:srgbClr val="292929"/>
                </a:solidFill>
              </a:rPr>
              <a:t> with the success rate being the highest between 8,000 and 15,000kg of payload mass.</a:t>
            </a:r>
            <a:endParaRPr/>
          </a:p>
        </p:txBody>
      </p:sp>
      <p:sp>
        <p:nvSpPr>
          <p:cNvPr id="219" name="Google Shape;219;p33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Payload vs. Launch Site</a:t>
            </a:r>
            <a:endParaRPr/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4299" y="1664499"/>
            <a:ext cx="6543675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34"/>
          <p:cNvSpPr txBox="1"/>
          <p:nvPr>
            <p:ph idx="1" type="body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ES-L1, GEO, HEO, and SSO had the highest success rates followed by VLEO with SO having no success.</a:t>
            </a:r>
            <a:endParaRPr/>
          </a:p>
        </p:txBody>
      </p:sp>
      <p:sp>
        <p:nvSpPr>
          <p:cNvPr id="227" name="Google Shape;227;p34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Success Rate vs. Orbit Type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228" name="Google Shape;22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6749" y="1682174"/>
            <a:ext cx="603885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35"/>
          <p:cNvSpPr txBox="1"/>
          <p:nvPr>
            <p:ph idx="1" type="body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/>
              <a:t>LEO greatly improved with no failures after the initial flights, VLEO also saw relatively few failures. </a:t>
            </a:r>
            <a:endParaRPr/>
          </a:p>
          <a:p>
            <a:pPr indent="-1778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SSO has remained significantly successful and ES-L1 has a 100% success rate but it should be noted that with </a:t>
            </a:r>
            <a:r>
              <a:rPr lang="en-US"/>
              <a:t>more</a:t>
            </a:r>
            <a:r>
              <a:rPr lang="en-US"/>
              <a:t> launches, the success rate will likely decrease.</a:t>
            </a:r>
            <a:endParaRPr/>
          </a:p>
          <a:p>
            <a:pPr indent="-1778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Overall, there is a trend of increasing success rates as the flight number increases.</a:t>
            </a:r>
            <a:endParaRPr/>
          </a:p>
        </p:txBody>
      </p:sp>
      <p:sp>
        <p:nvSpPr>
          <p:cNvPr id="235" name="Google Shape;235;p35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Flight Number vs. Orbit Type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236" name="Google Shape;23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6224" y="1558349"/>
            <a:ext cx="6429375" cy="44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36"/>
          <p:cNvSpPr txBox="1"/>
          <p:nvPr>
            <p:ph idx="1" type="body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889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It is unclear how significant payload mass is on the success or failure of a flight. This particularly comes into focus looking at GTO launches. </a:t>
            </a:r>
            <a:endParaRPr/>
          </a:p>
        </p:txBody>
      </p:sp>
      <p:sp>
        <p:nvSpPr>
          <p:cNvPr id="243" name="Google Shape;243;p36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Payload vs. Orbit Type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244" name="Google Shape;24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6149" y="1332549"/>
            <a:ext cx="6457950" cy="44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37"/>
          <p:cNvSpPr txBox="1"/>
          <p:nvPr>
            <p:ph idx="1" type="body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The success rate greatly increased from 2013 to 2017 with more failures in 2018 and beyond with peaks in 2018 and 2019 around 80% and 90% success rates, respectively.</a:t>
            </a:r>
            <a:endParaRPr/>
          </a:p>
        </p:txBody>
      </p:sp>
      <p:sp>
        <p:nvSpPr>
          <p:cNvPr id="251" name="Google Shape;251;p37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Launch Success Yearly Trend</a:t>
            </a:r>
            <a:endParaRPr/>
          </a:p>
        </p:txBody>
      </p:sp>
      <p:pic>
        <p:nvPicPr>
          <p:cNvPr id="252" name="Google Shape;25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6224" y="1568049"/>
            <a:ext cx="622935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38"/>
          <p:cNvSpPr txBox="1"/>
          <p:nvPr>
            <p:ph idx="1" type="body"/>
          </p:nvPr>
        </p:nvSpPr>
        <p:spPr>
          <a:xfrm>
            <a:off x="770000" y="1825625"/>
            <a:ext cx="97455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The unique launch sites are as seen below based on the SQL query</a:t>
            </a:r>
            <a:endParaRPr/>
          </a:p>
        </p:txBody>
      </p:sp>
      <p:sp>
        <p:nvSpPr>
          <p:cNvPr id="259" name="Google Shape;259;p38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All Launch Site Names</a:t>
            </a:r>
            <a:endParaRPr/>
          </a:p>
        </p:txBody>
      </p:sp>
      <p:pic>
        <p:nvPicPr>
          <p:cNvPr id="260" name="Google Shape;26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2707" y="2376275"/>
            <a:ext cx="7295600" cy="38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39"/>
          <p:cNvSpPr txBox="1"/>
          <p:nvPr>
            <p:ph idx="1" type="body"/>
          </p:nvPr>
        </p:nvSpPr>
        <p:spPr>
          <a:xfrm>
            <a:off x="770000" y="1825625"/>
            <a:ext cx="97455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See 5 Launch Sites below obtained in a SQL query</a:t>
            </a:r>
            <a:endParaRPr/>
          </a:p>
        </p:txBody>
      </p:sp>
      <p:sp>
        <p:nvSpPr>
          <p:cNvPr id="267" name="Google Shape;267;p39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Launch Site Names Begin with 'CCA'</a:t>
            </a:r>
            <a:endParaRPr/>
          </a:p>
        </p:txBody>
      </p:sp>
      <p:pic>
        <p:nvPicPr>
          <p:cNvPr id="268" name="Google Shape;2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000" y="2623475"/>
            <a:ext cx="8082300" cy="36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40"/>
          <p:cNvSpPr txBox="1"/>
          <p:nvPr>
            <p:ph idx="1" type="body"/>
          </p:nvPr>
        </p:nvSpPr>
        <p:spPr>
          <a:xfrm>
            <a:off x="847185" y="1767750"/>
            <a:ext cx="9745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See the sum of payload mass below which was the result of the below query</a:t>
            </a:r>
            <a:endParaRPr/>
          </a:p>
        </p:txBody>
      </p:sp>
      <p:sp>
        <p:nvSpPr>
          <p:cNvPr id="275" name="Google Shape;275;p40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Total Payload Mass</a:t>
            </a:r>
            <a:endParaRPr/>
          </a:p>
        </p:txBody>
      </p:sp>
      <p:pic>
        <p:nvPicPr>
          <p:cNvPr id="276" name="Google Shape;27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775" y="2662488"/>
            <a:ext cx="9220300" cy="31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1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41"/>
          <p:cNvSpPr txBox="1"/>
          <p:nvPr>
            <p:ph idx="1" type="body"/>
          </p:nvPr>
        </p:nvSpPr>
        <p:spPr>
          <a:xfrm>
            <a:off x="770010" y="1825625"/>
            <a:ext cx="9745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See the average </a:t>
            </a:r>
            <a:r>
              <a:rPr lang="en-US" sz="2200">
                <a:solidFill>
                  <a:srgbClr val="292929"/>
                </a:solidFill>
              </a:rPr>
              <a:t>payload</a:t>
            </a:r>
            <a:r>
              <a:rPr lang="en-US" sz="2200">
                <a:solidFill>
                  <a:srgbClr val="292929"/>
                </a:solidFill>
              </a:rPr>
              <a:t> mass from the result of the </a:t>
            </a:r>
            <a:r>
              <a:rPr lang="en-US" sz="2200">
                <a:solidFill>
                  <a:srgbClr val="292929"/>
                </a:solidFill>
              </a:rPr>
              <a:t>query</a:t>
            </a:r>
            <a:r>
              <a:rPr lang="en-US" sz="2200">
                <a:solidFill>
                  <a:srgbClr val="292929"/>
                </a:solidFill>
              </a:rPr>
              <a:t> below.</a:t>
            </a:r>
            <a:endParaRPr/>
          </a:p>
        </p:txBody>
      </p:sp>
      <p:sp>
        <p:nvSpPr>
          <p:cNvPr id="283" name="Google Shape;283;p41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Average Payload Mass by F9 v1.1</a:t>
            </a:r>
            <a:endParaRPr/>
          </a:p>
        </p:txBody>
      </p:sp>
      <p:pic>
        <p:nvPicPr>
          <p:cNvPr id="284" name="Google Shape;28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8165" y="2600325"/>
            <a:ext cx="9475669" cy="35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42"/>
          <p:cNvSpPr txBox="1"/>
          <p:nvPr>
            <p:ph idx="1" type="body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The date was obtained using the query below.</a:t>
            </a:r>
            <a:endParaRPr/>
          </a:p>
        </p:txBody>
      </p:sp>
      <p:sp>
        <p:nvSpPr>
          <p:cNvPr id="291" name="Google Shape;291;p42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First Successful Ground Landing Date</a:t>
            </a:r>
            <a:endParaRPr/>
          </a:p>
        </p:txBody>
      </p:sp>
      <p:pic>
        <p:nvPicPr>
          <p:cNvPr id="292" name="Google Shape;29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750" y="2966125"/>
            <a:ext cx="11508099" cy="25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43"/>
          <p:cNvSpPr txBox="1"/>
          <p:nvPr>
            <p:ph idx="1" type="body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Successfully landed drone ships having a</a:t>
            </a: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payload mass greater than 4000 but less than 6000 are shown using the query below.</a:t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</a:t>
            </a:r>
            <a:endParaRPr/>
          </a:p>
        </p:txBody>
      </p:sp>
      <p:sp>
        <p:nvSpPr>
          <p:cNvPr id="299" name="Google Shape;299;p43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Successful Drone Ship Landing with Payload between 4000 and 6000</a:t>
            </a:r>
            <a:endParaRPr/>
          </a:p>
        </p:txBody>
      </p:sp>
      <p:pic>
        <p:nvPicPr>
          <p:cNvPr id="300" name="Google Shape;30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6675" y="2874375"/>
            <a:ext cx="10501300" cy="33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44"/>
          <p:cNvSpPr txBox="1"/>
          <p:nvPr>
            <p:ph idx="1" type="body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Outcomes were obtained using the query below.</a:t>
            </a:r>
            <a:endParaRPr/>
          </a:p>
        </p:txBody>
      </p:sp>
      <p:sp>
        <p:nvSpPr>
          <p:cNvPr id="307" name="Google Shape;307;p44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Total Number of Successful and Failure Mission Outcomes</a:t>
            </a:r>
            <a:endParaRPr/>
          </a:p>
        </p:txBody>
      </p:sp>
      <p:pic>
        <p:nvPicPr>
          <p:cNvPr id="308" name="Google Shape;30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127" y="2500727"/>
            <a:ext cx="8660095" cy="35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45"/>
          <p:cNvSpPr txBox="1"/>
          <p:nvPr>
            <p:ph idx="1" type="body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Below are the boosters which have carried the maximum payloads.</a:t>
            </a:r>
            <a:endParaRPr/>
          </a:p>
        </p:txBody>
      </p:sp>
      <p:sp>
        <p:nvSpPr>
          <p:cNvPr id="315" name="Google Shape;315;p45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Boosters Carried Maximum Payload</a:t>
            </a:r>
            <a:endParaRPr/>
          </a:p>
        </p:txBody>
      </p:sp>
      <p:pic>
        <p:nvPicPr>
          <p:cNvPr id="316" name="Google Shape;31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8150" y="2662150"/>
            <a:ext cx="6489300" cy="336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46"/>
          <p:cNvSpPr txBox="1"/>
          <p:nvPr>
            <p:ph idx="1" type="body"/>
          </p:nvPr>
        </p:nvSpPr>
        <p:spPr>
          <a:xfrm>
            <a:off x="770000" y="1825625"/>
            <a:ext cx="97455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Failed landing outcomes in drone ships as well as there booster versions and launch sites for the year 2015 can be seen below.</a:t>
            </a:r>
            <a:endParaRPr sz="28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2015 Launch Records</a:t>
            </a:r>
            <a:endParaRPr/>
          </a:p>
        </p:txBody>
      </p:sp>
      <p:pic>
        <p:nvPicPr>
          <p:cNvPr id="324" name="Google Shape;32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0663" y="3429000"/>
            <a:ext cx="9876175" cy="216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" name="Google Shape;330;p47"/>
          <p:cNvSpPr txBox="1"/>
          <p:nvPr>
            <p:ph idx="1" type="body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The following are the results in descending order by date of landing outcomes from 2017/03/20 to 2010/06/04</a:t>
            </a:r>
            <a:endParaRPr/>
          </a:p>
          <a:p>
            <a:pPr indent="-889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</a:t>
            </a:r>
            <a:endParaRPr/>
          </a:p>
        </p:txBody>
      </p:sp>
      <p:sp>
        <p:nvSpPr>
          <p:cNvPr id="331" name="Google Shape;331;p47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Rank Landing Outcomes Between 2010-06-04 and 2017-03-20</a:t>
            </a:r>
            <a:endParaRPr/>
          </a:p>
        </p:txBody>
      </p:sp>
      <p:pic>
        <p:nvPicPr>
          <p:cNvPr id="332" name="Google Shape;33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4513" y="2929938"/>
            <a:ext cx="2447925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2450" y="3068050"/>
            <a:ext cx="25717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000" y="3034713"/>
            <a:ext cx="23812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59038" y="3668388"/>
            <a:ext cx="242887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8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9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49"/>
          <p:cNvSpPr txBox="1"/>
          <p:nvPr>
            <p:ph idx="1" type="body"/>
          </p:nvPr>
        </p:nvSpPr>
        <p:spPr>
          <a:xfrm>
            <a:off x="770005" y="1825625"/>
            <a:ext cx="4689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As seen from the map, the launch sites are located near the coastline and close to the equator.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47" name="Google Shape;347;p49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0B49CB"/>
                </a:solidFill>
              </a:rPr>
              <a:t>Launch Sites on Global Map</a:t>
            </a:r>
            <a:endParaRPr/>
          </a:p>
        </p:txBody>
      </p:sp>
      <p:pic>
        <p:nvPicPr>
          <p:cNvPr id="348" name="Google Shape;34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4631" y="1727775"/>
            <a:ext cx="4843290" cy="42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50"/>
          <p:cNvSpPr txBox="1"/>
          <p:nvPr>
            <p:ph idx="1" type="body"/>
          </p:nvPr>
        </p:nvSpPr>
        <p:spPr>
          <a:xfrm>
            <a:off x="770000" y="1825625"/>
            <a:ext cx="97455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8122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ct val="78571"/>
              <a:buFont typeface="Arial"/>
              <a:buChar char="•"/>
            </a:pPr>
            <a:r>
              <a:rPr lang="en-US" sz="2800">
                <a:solidFill>
                  <a:srgbClr val="292929"/>
                </a:solidFill>
              </a:rPr>
              <a:t>Launch Sites as well as outcomes. Success was much more likely in KSC LC-39A than other launch sites.</a:t>
            </a:r>
            <a:endParaRPr sz="2800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0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0B49CB"/>
                </a:solidFill>
              </a:rPr>
              <a:t>Launchsite Map and Outcomes</a:t>
            </a:r>
            <a:endParaRPr/>
          </a:p>
        </p:txBody>
      </p:sp>
      <p:pic>
        <p:nvPicPr>
          <p:cNvPr id="356" name="Google Shape;35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7513" y="3428988"/>
            <a:ext cx="2143125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9325" y="3001175"/>
            <a:ext cx="24955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33288" y="3286925"/>
            <a:ext cx="20574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05225" y="2848775"/>
            <a:ext cx="2962275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1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5" name="Google Shape;365;p51"/>
          <p:cNvSpPr txBox="1"/>
          <p:nvPr>
            <p:ph idx="1" type="body"/>
          </p:nvPr>
        </p:nvSpPr>
        <p:spPr>
          <a:xfrm>
            <a:off x="770000" y="5013774"/>
            <a:ext cx="8597700" cy="13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Distance between launchsite and its proximities. </a:t>
            </a:r>
            <a:endParaRPr sz="28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1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0B49CB"/>
                </a:solidFill>
              </a:rPr>
              <a:t>Launchsite and Proximities Map</a:t>
            </a:r>
            <a:endParaRPr/>
          </a:p>
        </p:txBody>
      </p:sp>
      <p:pic>
        <p:nvPicPr>
          <p:cNvPr id="367" name="Google Shape;36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313" y="1545788"/>
            <a:ext cx="5153025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2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3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53"/>
          <p:cNvSpPr txBox="1"/>
          <p:nvPr>
            <p:ph idx="1" type="body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89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292929"/>
                </a:solidFill>
              </a:rPr>
              <a:t>The launchsite with the most successful counts was KSC LC-39A followed by CCAFS LC-40</a:t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3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0B49CB"/>
                </a:solidFill>
              </a:rPr>
              <a:t>Successful Counts for Launch Sites</a:t>
            </a:r>
            <a:endParaRPr/>
          </a:p>
        </p:txBody>
      </p:sp>
      <p:pic>
        <p:nvPicPr>
          <p:cNvPr id="380" name="Google Shape;38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4347" y="3006875"/>
            <a:ext cx="8986925" cy="330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p54"/>
          <p:cNvSpPr txBox="1"/>
          <p:nvPr>
            <p:ph idx="1" type="body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800">
                <a:solidFill>
                  <a:srgbClr val="292929"/>
                </a:solidFill>
              </a:rPr>
              <a:t>KSC LC-39A had the highest success rate with over 75% of launches resulting in success.</a:t>
            </a:r>
            <a:endParaRPr sz="28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54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0B49CB"/>
                </a:solidFill>
              </a:rPr>
              <a:t>Success Rate KSC LC-39A</a:t>
            </a:r>
            <a:endParaRPr/>
          </a:p>
        </p:txBody>
      </p:sp>
      <p:pic>
        <p:nvPicPr>
          <p:cNvPr id="388" name="Google Shape;38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1525" y="2760907"/>
            <a:ext cx="3804225" cy="30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5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p55"/>
          <p:cNvSpPr txBox="1"/>
          <p:nvPr>
            <p:ph idx="1" type="body"/>
          </p:nvPr>
        </p:nvSpPr>
        <p:spPr>
          <a:xfrm>
            <a:off x="770000" y="4640473"/>
            <a:ext cx="104148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This shows the effect that payload mass and booster version had on success rate.</a:t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5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0B49CB"/>
                </a:solidFill>
              </a:rPr>
              <a:t>Launch Outcome by Payload</a:t>
            </a:r>
            <a:endParaRPr/>
          </a:p>
        </p:txBody>
      </p:sp>
      <p:pic>
        <p:nvPicPr>
          <p:cNvPr id="396" name="Google Shape;39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688" y="1426225"/>
            <a:ext cx="11318225" cy="287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6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7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7" name="Google Shape;407;p57"/>
          <p:cNvSpPr txBox="1"/>
          <p:nvPr>
            <p:ph idx="1" type="body"/>
          </p:nvPr>
        </p:nvSpPr>
        <p:spPr>
          <a:xfrm>
            <a:off x="770003" y="2082125"/>
            <a:ext cx="36477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Decision Tree was the most accurate among the classifiers.</a:t>
            </a:r>
            <a:endParaRPr/>
          </a:p>
        </p:txBody>
      </p:sp>
      <p:sp>
        <p:nvSpPr>
          <p:cNvPr id="408" name="Google Shape;408;p57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Classification Accuracy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409" name="Google Shape;40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101" y="2148338"/>
            <a:ext cx="6909275" cy="36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8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5" name="Google Shape;415;p58"/>
          <p:cNvSpPr txBox="1"/>
          <p:nvPr>
            <p:ph idx="1" type="body"/>
          </p:nvPr>
        </p:nvSpPr>
        <p:spPr>
          <a:xfrm>
            <a:off x="770008" y="2057400"/>
            <a:ext cx="22779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were no false </a:t>
            </a:r>
            <a:r>
              <a:rPr lang="en-US"/>
              <a:t>negatives</a:t>
            </a:r>
            <a:r>
              <a:rPr lang="en-US"/>
              <a:t> and overall the results were fairly reliable for most scenarios.</a:t>
            </a:r>
            <a:endParaRPr/>
          </a:p>
        </p:txBody>
      </p:sp>
      <p:sp>
        <p:nvSpPr>
          <p:cNvPr id="416" name="Google Shape;416;p58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417" name="Google Shape;41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7463" y="1861950"/>
            <a:ext cx="4829175" cy="3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9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3" name="Google Shape;423;p59"/>
          <p:cNvSpPr txBox="1"/>
          <p:nvPr>
            <p:ph idx="1" type="body"/>
          </p:nvPr>
        </p:nvSpPr>
        <p:spPr>
          <a:xfrm>
            <a:off x="769991" y="18750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Some launch sites saw greater success than others.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The data was not sufficient to determine the reason for success or failure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ES-L1, HEO, SSO, and GEO were the most successful </a:t>
            </a:r>
            <a:r>
              <a:rPr lang="en-US" sz="2200">
                <a:solidFill>
                  <a:srgbClr val="292929"/>
                </a:solidFill>
              </a:rPr>
              <a:t>orbits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In general, the company saw increasing success as the flight number increased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</a:rPr>
              <a:t>Some of the locations had a low success rate but many of their launches were earlier. There were likely other </a:t>
            </a:r>
            <a:r>
              <a:rPr lang="en-US" sz="2200">
                <a:solidFill>
                  <a:srgbClr val="292929"/>
                </a:solidFill>
              </a:rPr>
              <a:t>factors besides location that caused these lower success rates.</a:t>
            </a:r>
            <a:endParaRPr/>
          </a:p>
        </p:txBody>
      </p:sp>
      <p:sp>
        <p:nvSpPr>
          <p:cNvPr id="424" name="Google Shape;424;p59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